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HK Grotesk" charset="1" panose="00000500000000000000"/>
      <p:regular r:id="rId27"/>
    </p:embeddedFont>
    <p:embeddedFont>
      <p:font typeface="HK Grotesk Semi-Bold" charset="1" panose="00000700000000000000"/>
      <p:regular r:id="rId28"/>
    </p:embeddedFont>
    <p:embeddedFont>
      <p:font typeface="HK Grotesk Bold" charset="1" panose="00000800000000000000"/>
      <p:regular r:id="rId29"/>
    </p:embeddedFont>
    <p:embeddedFont>
      <p:font typeface="HK Grotesk Light" charset="1" panose="00000400000000000000"/>
      <p:regular r:id="rId30"/>
    </p:embeddedFont>
    <p:embeddedFont>
      <p:font typeface="Hatton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38767" y="-3983266"/>
            <a:ext cx="13722413" cy="13722413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>
                <a:alpha val="20784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-672694" y="1656707"/>
            <a:ext cx="19803702" cy="3110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3"/>
              </a:lnSpc>
            </a:pPr>
            <a:r>
              <a:rPr lang="en-US" sz="6348" spc="-19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Dyn</a:t>
            </a:r>
            <a:r>
              <a:rPr lang="en-US" sz="6348" spc="-19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amic Channel Allocation for IoT Networks Using Interference-Aware Wi-Fi</a:t>
            </a:r>
          </a:p>
          <a:p>
            <a:pPr algn="ctr" marL="0" indent="0" lvl="0">
              <a:lnSpc>
                <a:spcPts val="825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088105" y="4064976"/>
            <a:ext cx="8962668" cy="37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88"/>
              </a:lnSpc>
            </a:pPr>
            <a:r>
              <a:rPr lang="en-US" sz="2376" spc="54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👉</a:t>
            </a:r>
            <a:r>
              <a:rPr lang="en-US" sz="2376" spc="54" u="none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 SYSTEMS / NETWORK OPTIMIZATION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35474" y="1888282"/>
            <a:ext cx="18758948" cy="9525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-260628" y="699299"/>
            <a:ext cx="8115300" cy="9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98"/>
              </a:lnSpc>
            </a:pPr>
            <a:r>
              <a:rPr lang="en-US" b="true" sz="6075" spc="139">
                <a:solidFill>
                  <a:srgbClr val="29292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0283" y="2553895"/>
            <a:ext cx="13709076" cy="711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78709" indent="-439354" lvl="1">
              <a:lnSpc>
                <a:spcPts val="5697"/>
              </a:lnSpc>
              <a:buFont typeface="Arial"/>
              <a:buChar char="•"/>
            </a:pPr>
            <a:r>
              <a:rPr lang="en-US" sz="4069" spc="-12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IoT devices mostly rely on Wi-Fi (2.4 GHz) for communication</a:t>
            </a:r>
          </a:p>
          <a:p>
            <a:pPr algn="l" marL="878709" indent="-439354" lvl="1">
              <a:lnSpc>
                <a:spcPts val="5697"/>
              </a:lnSpc>
              <a:buFont typeface="Arial"/>
              <a:buChar char="•"/>
            </a:pPr>
            <a:r>
              <a:rPr lang="en-US" sz="4069" spc="-12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Multiple IoT nodes + routers share limited channels</a:t>
            </a:r>
          </a:p>
          <a:p>
            <a:pPr algn="l" marL="878709" indent="-439354" lvl="1">
              <a:lnSpc>
                <a:spcPts val="5697"/>
              </a:lnSpc>
              <a:buFont typeface="Arial"/>
              <a:buChar char="•"/>
            </a:pPr>
            <a:r>
              <a:rPr lang="en-US" sz="4069" spc="-12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Static channel selection causes:</a:t>
            </a:r>
          </a:p>
          <a:p>
            <a:pPr algn="l" marL="878709" indent="-439354" lvl="1">
              <a:lnSpc>
                <a:spcPts val="5697"/>
              </a:lnSpc>
              <a:buFont typeface="Arial"/>
              <a:buChar char="•"/>
            </a:pPr>
            <a:r>
              <a:rPr lang="en-US" sz="4069" spc="-12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High interference</a:t>
            </a:r>
          </a:p>
          <a:p>
            <a:pPr algn="l" marL="878709" indent="-439354" lvl="1">
              <a:lnSpc>
                <a:spcPts val="5697"/>
              </a:lnSpc>
              <a:buFont typeface="Arial"/>
              <a:buChar char="•"/>
            </a:pPr>
            <a:r>
              <a:rPr lang="en-US" sz="4069" spc="-12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Packet loss</a:t>
            </a:r>
          </a:p>
          <a:p>
            <a:pPr algn="l" marL="878709" indent="-439354" lvl="1">
              <a:lnSpc>
                <a:spcPts val="5697"/>
              </a:lnSpc>
              <a:buFont typeface="Arial"/>
              <a:buChar char="•"/>
            </a:pPr>
            <a:r>
              <a:rPr lang="en-US" sz="4069" spc="-12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Increased latency</a:t>
            </a:r>
          </a:p>
          <a:p>
            <a:pPr algn="l" marL="878709" indent="-439354" lvl="1">
              <a:lnSpc>
                <a:spcPts val="5697"/>
              </a:lnSpc>
              <a:buFont typeface="Arial"/>
              <a:buChar char="•"/>
            </a:pPr>
            <a:r>
              <a:rPr lang="en-US" sz="4069" spc="-12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Dynamic Channel Allocation (DCA) solves this by continuously adapting the channel based on interference</a:t>
            </a:r>
          </a:p>
          <a:p>
            <a:pPr algn="l">
              <a:lnSpc>
                <a:spcPts val="56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412168" y="707871"/>
            <a:ext cx="9443343" cy="847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82"/>
              </a:lnSpc>
            </a:pPr>
            <a:r>
              <a:rPr lang="en-US" b="true" sz="5568">
                <a:solidFill>
                  <a:srgbClr val="292929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5308" y="2020328"/>
            <a:ext cx="15524858" cy="6800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1"/>
              </a:lnSpc>
            </a:pPr>
            <a:r>
              <a:rPr lang="en-US" sz="3777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Static Channel Allocation</a:t>
            </a:r>
          </a:p>
          <a:p>
            <a:pPr algn="l" marL="815608" indent="-407804" lvl="1">
              <a:lnSpc>
                <a:spcPts val="4911"/>
              </a:lnSpc>
              <a:buFont typeface="Arial"/>
              <a:buChar char="•"/>
            </a:pPr>
            <a:r>
              <a:rPr lang="en-US" sz="3777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One channel is selected at startup</a:t>
            </a:r>
          </a:p>
          <a:p>
            <a:pPr algn="l" marL="815608" indent="-407804" lvl="1">
              <a:lnSpc>
                <a:spcPts val="4911"/>
              </a:lnSpc>
              <a:buFont typeface="Arial"/>
              <a:buChar char="•"/>
            </a:pPr>
            <a:r>
              <a:rPr lang="en-US" sz="3777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Channel remains fixed even if congestion increases</a:t>
            </a:r>
          </a:p>
          <a:p>
            <a:pPr algn="l" marL="815608" indent="-407804" lvl="1">
              <a:lnSpc>
                <a:spcPts val="4911"/>
              </a:lnSpc>
              <a:buFont typeface="Arial"/>
              <a:buChar char="•"/>
            </a:pPr>
            <a:r>
              <a:rPr lang="en-US" sz="3777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Results in:</a:t>
            </a:r>
          </a:p>
          <a:p>
            <a:pPr algn="l" marL="1631216" indent="-543739" lvl="2">
              <a:lnSpc>
                <a:spcPts val="4911"/>
              </a:lnSpc>
              <a:buFont typeface="Arial"/>
              <a:buChar char="⚬"/>
            </a:pPr>
            <a:r>
              <a:rPr lang="en-US" sz="3777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Poor throughput</a:t>
            </a:r>
          </a:p>
          <a:p>
            <a:pPr algn="l" marL="1631216" indent="-543739" lvl="2">
              <a:lnSpc>
                <a:spcPts val="4911"/>
              </a:lnSpc>
              <a:buFont typeface="Arial"/>
              <a:buChar char="⚬"/>
            </a:pPr>
            <a:r>
              <a:rPr lang="en-US" sz="3777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Higher retransmissions</a:t>
            </a:r>
          </a:p>
          <a:p>
            <a:pPr algn="l" marL="1631216" indent="-543739" lvl="2">
              <a:lnSpc>
                <a:spcPts val="4911"/>
              </a:lnSpc>
              <a:buFont typeface="Arial"/>
              <a:buChar char="⚬"/>
            </a:pPr>
            <a:r>
              <a:rPr lang="en-US" sz="3777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Energy wastage in IoT nodes</a:t>
            </a:r>
          </a:p>
          <a:p>
            <a:pPr algn="l">
              <a:lnSpc>
                <a:spcPts val="4911"/>
              </a:lnSpc>
            </a:pPr>
            <a:r>
              <a:rPr lang="en-US" sz="3777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Need</a:t>
            </a:r>
          </a:p>
          <a:p>
            <a:pPr algn="l" marL="815608" indent="-407804" lvl="1">
              <a:lnSpc>
                <a:spcPts val="4911"/>
              </a:lnSpc>
              <a:buFont typeface="Arial"/>
              <a:buChar char="•"/>
            </a:pPr>
            <a:r>
              <a:rPr lang="en-US" sz="3777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IoT networks need self-adapting communication</a:t>
            </a:r>
          </a:p>
          <a:p>
            <a:pPr algn="l" marL="815608" indent="-407804" lvl="1">
              <a:lnSpc>
                <a:spcPts val="4911"/>
              </a:lnSpc>
              <a:buFont typeface="Arial"/>
              <a:buChar char="•"/>
            </a:pPr>
            <a:r>
              <a:rPr lang="en-US" sz="3777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Channels should change automatically when interference increases</a:t>
            </a:r>
          </a:p>
          <a:p>
            <a:pPr algn="l">
              <a:lnSpc>
                <a:spcPts val="491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5765" y="2682103"/>
            <a:ext cx="15120258" cy="63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0"/>
              </a:lnSpc>
            </a:pPr>
            <a:r>
              <a:rPr lang="en-US" sz="4800" spc="-144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2.4 GHz Band</a:t>
            </a:r>
          </a:p>
          <a:p>
            <a:pPr algn="l" marL="1036320" indent="-518160" lvl="1">
              <a:lnSpc>
                <a:spcPts val="6240"/>
              </a:lnSpc>
              <a:buFont typeface="Arial"/>
              <a:buChar char="•"/>
            </a:pPr>
            <a:r>
              <a:rPr lang="en-US" sz="4800" spc="-144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Total channels: 13 </a:t>
            </a:r>
          </a:p>
          <a:p>
            <a:pPr algn="l" marL="1036320" indent="-518160" lvl="1">
              <a:lnSpc>
                <a:spcPts val="6240"/>
              </a:lnSpc>
              <a:buFont typeface="Arial"/>
              <a:buChar char="•"/>
            </a:pPr>
            <a:r>
              <a:rPr lang="en-US" sz="4800" spc="-144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Only 3 non-overlapping channels: 1, 6, 11</a:t>
            </a:r>
          </a:p>
          <a:p>
            <a:pPr algn="l" marL="1036320" indent="-518160" lvl="1">
              <a:lnSpc>
                <a:spcPts val="6240"/>
              </a:lnSpc>
              <a:buFont typeface="Arial"/>
              <a:buChar char="•"/>
            </a:pPr>
            <a:r>
              <a:rPr lang="en-US" sz="4800" spc="-144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High interference due to:</a:t>
            </a:r>
          </a:p>
          <a:p>
            <a:pPr algn="l" marL="2072640" indent="-690880" lvl="2">
              <a:lnSpc>
                <a:spcPts val="6240"/>
              </a:lnSpc>
              <a:buFont typeface="Arial"/>
              <a:buChar char="⚬"/>
            </a:pPr>
            <a:r>
              <a:rPr lang="en-US" sz="4800" spc="-144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Bluetooth</a:t>
            </a:r>
          </a:p>
          <a:p>
            <a:pPr algn="l" marL="2072640" indent="-690880" lvl="2">
              <a:lnSpc>
                <a:spcPts val="6240"/>
              </a:lnSpc>
              <a:buFont typeface="Arial"/>
              <a:buChar char="⚬"/>
            </a:pPr>
            <a:r>
              <a:rPr lang="en-US" sz="4800" spc="-144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Microwaves</a:t>
            </a:r>
          </a:p>
          <a:p>
            <a:pPr algn="l" marL="2072640" indent="-690880" lvl="2">
              <a:lnSpc>
                <a:spcPts val="6240"/>
              </a:lnSpc>
              <a:buFont typeface="Arial"/>
              <a:buChar char="⚬"/>
            </a:pPr>
            <a:r>
              <a:rPr lang="en-US" sz="4800" spc="-144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Nearby Wi-Fi networks</a:t>
            </a:r>
          </a:p>
          <a:p>
            <a:pPr algn="l" marL="0" indent="0" lvl="0">
              <a:lnSpc>
                <a:spcPts val="6240"/>
              </a:lnSpc>
              <a:spcBef>
                <a:spcPct val="0"/>
              </a:spcBef>
            </a:pPr>
          </a:p>
        </p:txBody>
      </p:sp>
      <p:sp>
        <p:nvSpPr>
          <p:cNvPr name="AutoShape 3" id="3"/>
          <p:cNvSpPr/>
          <p:nvPr/>
        </p:nvSpPr>
        <p:spPr>
          <a:xfrm rot="0">
            <a:off x="-235474" y="1960473"/>
            <a:ext cx="18758948" cy="9525"/>
          </a:xfrm>
          <a:prstGeom prst="rect">
            <a:avLst/>
          </a:prstGeom>
          <a:solidFill>
            <a:srgbClr val="292929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8970116" y="5861681"/>
            <a:ext cx="9183518" cy="2594344"/>
          </a:xfrm>
          <a:custGeom>
            <a:avLst/>
            <a:gdLst/>
            <a:ahLst/>
            <a:cxnLst/>
            <a:rect r="r" b="b" t="t" l="l"/>
            <a:pathLst>
              <a:path h="2594344" w="9183518">
                <a:moveTo>
                  <a:pt x="0" y="0"/>
                </a:moveTo>
                <a:lnTo>
                  <a:pt x="9183518" y="0"/>
                </a:lnTo>
                <a:lnTo>
                  <a:pt x="9183518" y="2594343"/>
                </a:lnTo>
                <a:lnTo>
                  <a:pt x="0" y="2594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5110" y="959526"/>
            <a:ext cx="9254932" cy="1339914"/>
            <a:chOff x="0" y="0"/>
            <a:chExt cx="12339909" cy="178655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47625"/>
              <a:ext cx="12339909" cy="8910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48"/>
                </a:lnSpc>
              </a:pPr>
              <a:r>
                <a:rPr lang="en-US" b="true" sz="4191" spc="-125">
                  <a:solidFill>
                    <a:srgbClr val="292929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WI-FI BANDS &amp; CHANNELS OVERVIEW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368298"/>
              <a:ext cx="11666387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2504" y="850366"/>
            <a:ext cx="8386648" cy="90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53"/>
              </a:lnSpc>
              <a:spcBef>
                <a:spcPct val="0"/>
              </a:spcBef>
            </a:pPr>
            <a:r>
              <a:rPr lang="en-US" b="true" sz="5579" spc="-167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b="true" sz="5579" spc="-167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</a:t>
            </a:r>
            <a:r>
              <a:rPr lang="en-US" b="true" sz="5579" spc="-167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ore Idea of the Project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73251" y="2223239"/>
            <a:ext cx="13871803" cy="273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"/>
              </a:lnSpc>
            </a:pPr>
            <a:r>
              <a:rPr lang="en-US" sz="4172" spc="-12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4172" spc="-12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nterference-Aware Dynamic Channel Allocation</a:t>
            </a:r>
          </a:p>
          <a:p>
            <a:pPr algn="l" marL="900844" indent="-450422" lvl="1">
              <a:lnSpc>
                <a:spcPts val="5424"/>
              </a:lnSpc>
              <a:buFont typeface="Arial"/>
              <a:buChar char="•"/>
            </a:pPr>
            <a:r>
              <a:rPr lang="en-US" sz="4172" spc="-12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IoT node does not stick to one channel</a:t>
            </a:r>
          </a:p>
          <a:p>
            <a:pPr algn="l" marL="900844" indent="-450422" lvl="1">
              <a:lnSpc>
                <a:spcPts val="5424"/>
              </a:lnSpc>
              <a:buFont typeface="Arial"/>
              <a:buChar char="•"/>
            </a:pPr>
            <a:r>
              <a:rPr lang="en-US" sz="4172" spc="-12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It:</a:t>
            </a:r>
          </a:p>
          <a:p>
            <a:pPr algn="l" marL="0" indent="0" lvl="0">
              <a:lnSpc>
                <a:spcPts val="542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360468" y="4317431"/>
            <a:ext cx="11097369" cy="291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8"/>
              </a:lnSpc>
              <a:spcBef>
                <a:spcPct val="0"/>
              </a:spcBef>
            </a:pPr>
            <a:r>
              <a:rPr lang="en-US" sz="4170">
                <a:solidFill>
                  <a:srgbClr val="292929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Monitors current channel quality</a:t>
            </a:r>
          </a:p>
          <a:p>
            <a:pPr algn="l">
              <a:lnSpc>
                <a:spcPts val="5838"/>
              </a:lnSpc>
              <a:spcBef>
                <a:spcPct val="0"/>
              </a:spcBef>
            </a:pPr>
            <a:r>
              <a:rPr lang="en-US" sz="4170">
                <a:solidFill>
                  <a:srgbClr val="292929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Scans other channels</a:t>
            </a:r>
          </a:p>
          <a:p>
            <a:pPr algn="l">
              <a:lnSpc>
                <a:spcPts val="5838"/>
              </a:lnSpc>
              <a:spcBef>
                <a:spcPct val="0"/>
              </a:spcBef>
            </a:pPr>
            <a:r>
              <a:rPr lang="en-US" sz="4170">
                <a:solidFill>
                  <a:srgbClr val="292929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Selects the least congested channel</a:t>
            </a:r>
          </a:p>
          <a:p>
            <a:pPr algn="l">
              <a:lnSpc>
                <a:spcPts val="5838"/>
              </a:lnSpc>
              <a:spcBef>
                <a:spcPct val="0"/>
              </a:spcBef>
            </a:pPr>
            <a:r>
              <a:rPr lang="en-US" sz="4170">
                <a:solidFill>
                  <a:srgbClr val="292929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Switches connection without manual intervention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3059" y="563722"/>
            <a:ext cx="6328368" cy="2052225"/>
            <a:chOff x="0" y="0"/>
            <a:chExt cx="8437824" cy="27363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196664"/>
              <a:ext cx="8437824" cy="539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  <a:spcBef>
                  <a:spcPct val="0"/>
                </a:spcBef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7982882" cy="128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43"/>
                </a:lnSpc>
                <a:spcBef>
                  <a:spcPct val="0"/>
                </a:spcBef>
              </a:pPr>
              <a:r>
                <a:rPr lang="en-US" b="true" sz="6110" spc="-183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Method</a:t>
              </a:r>
              <a:r>
                <a:rPr lang="en-US" b="true" sz="6110" spc="-183" u="none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ology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85047" y="1710259"/>
            <a:ext cx="10402553" cy="778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3"/>
              </a:lnSpc>
              <a:spcBef>
                <a:spcPct val="0"/>
              </a:spcBef>
            </a:pPr>
            <a:r>
              <a:rPr lang="en-US" sz="3395" spc="-101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Step 1: Initial Channel Connection</a:t>
            </a:r>
          </a:p>
          <a:p>
            <a:pPr algn="l" marL="733041" indent="-366520" lvl="1">
              <a:lnSpc>
                <a:spcPts val="4753"/>
              </a:lnSpc>
              <a:spcBef>
                <a:spcPct val="0"/>
              </a:spcBef>
              <a:buFont typeface="Arial"/>
              <a:buChar char="•"/>
            </a:pPr>
            <a:r>
              <a:rPr lang="en-US" sz="3395" spc="-101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IoT device connects to a default Wi-Fi channel</a:t>
            </a:r>
          </a:p>
          <a:p>
            <a:pPr algn="l" marL="733041" indent="-366520" lvl="1">
              <a:lnSpc>
                <a:spcPts val="4753"/>
              </a:lnSpc>
              <a:spcBef>
                <a:spcPct val="0"/>
              </a:spcBef>
              <a:buFont typeface="Arial"/>
              <a:buChar char="•"/>
            </a:pPr>
            <a:r>
              <a:rPr lang="en-US" sz="3395" spc="-101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Starts normal data transmission</a:t>
            </a:r>
          </a:p>
          <a:p>
            <a:pPr algn="l">
              <a:lnSpc>
                <a:spcPts val="4753"/>
              </a:lnSpc>
              <a:spcBef>
                <a:spcPct val="0"/>
              </a:spcBef>
            </a:pPr>
            <a:r>
              <a:rPr lang="en-US" sz="3395" spc="-101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Step 2: Continuous Monitoring</a:t>
            </a:r>
          </a:p>
          <a:p>
            <a:pPr algn="l" marL="733041" indent="-366520" lvl="1">
              <a:lnSpc>
                <a:spcPts val="4753"/>
              </a:lnSpc>
              <a:spcBef>
                <a:spcPct val="0"/>
              </a:spcBef>
              <a:buFont typeface="Arial"/>
              <a:buChar char="•"/>
            </a:pPr>
            <a:r>
              <a:rPr lang="en-US" sz="3395" spc="-101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Measures:</a:t>
            </a:r>
          </a:p>
          <a:p>
            <a:pPr algn="l" marL="1466082" indent="-488694" lvl="2">
              <a:lnSpc>
                <a:spcPts val="4753"/>
              </a:lnSpc>
              <a:spcBef>
                <a:spcPct val="0"/>
              </a:spcBef>
              <a:buFont typeface="Arial"/>
              <a:buChar char="⚬"/>
            </a:pPr>
            <a:r>
              <a:rPr lang="en-US" sz="3395" spc="-101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Signal strength (RSSI)</a:t>
            </a:r>
          </a:p>
          <a:p>
            <a:pPr algn="l" marL="1466082" indent="-488694" lvl="2">
              <a:lnSpc>
                <a:spcPts val="4753"/>
              </a:lnSpc>
              <a:spcBef>
                <a:spcPct val="0"/>
              </a:spcBef>
              <a:buFont typeface="Arial"/>
              <a:buChar char="⚬"/>
            </a:pPr>
            <a:r>
              <a:rPr lang="en-US" sz="3395" spc="-101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Noise level</a:t>
            </a:r>
          </a:p>
          <a:p>
            <a:pPr algn="l" marL="1466082" indent="-488694" lvl="2">
              <a:lnSpc>
                <a:spcPts val="4753"/>
              </a:lnSpc>
              <a:spcBef>
                <a:spcPct val="0"/>
              </a:spcBef>
              <a:buFont typeface="Arial"/>
              <a:buChar char="⚬"/>
            </a:pPr>
            <a:r>
              <a:rPr lang="en-US" sz="3395" spc="-101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Packet loss</a:t>
            </a:r>
          </a:p>
          <a:p>
            <a:pPr algn="l">
              <a:lnSpc>
                <a:spcPts val="4753"/>
              </a:lnSpc>
              <a:spcBef>
                <a:spcPct val="0"/>
              </a:spcBef>
            </a:pPr>
            <a:r>
              <a:rPr lang="en-US" sz="3395" spc="-101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Step 3: Wait &amp; Observe Phase</a:t>
            </a:r>
          </a:p>
          <a:p>
            <a:pPr algn="l" marL="733041" indent="-366520" lvl="1">
              <a:lnSpc>
                <a:spcPts val="4753"/>
              </a:lnSpc>
              <a:spcBef>
                <a:spcPct val="0"/>
              </a:spcBef>
              <a:buFont typeface="Arial"/>
              <a:buChar char="•"/>
            </a:pPr>
            <a:r>
              <a:rPr lang="en-US" sz="3395" spc="-101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Device waits for a fixed time window</a:t>
            </a:r>
          </a:p>
          <a:p>
            <a:pPr algn="l" marL="733041" indent="-366520" lvl="1">
              <a:lnSpc>
                <a:spcPts val="4753"/>
              </a:lnSpc>
              <a:spcBef>
                <a:spcPct val="0"/>
              </a:spcBef>
              <a:buFont typeface="Arial"/>
              <a:buChar char="•"/>
            </a:pPr>
            <a:r>
              <a:rPr lang="en-US" sz="3395" spc="-101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If interference stays below threshold → continue</a:t>
            </a:r>
          </a:p>
          <a:p>
            <a:pPr algn="l" marL="733041" indent="-366520" lvl="1">
              <a:lnSpc>
                <a:spcPts val="4753"/>
              </a:lnSpc>
              <a:spcBef>
                <a:spcPct val="0"/>
              </a:spcBef>
              <a:buFont typeface="Arial"/>
              <a:buChar char="•"/>
            </a:pPr>
            <a:r>
              <a:rPr lang="en-US" sz="3395" spc="-101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If interference exceeds threshold → scan</a:t>
            </a:r>
          </a:p>
          <a:p>
            <a:pPr algn="l">
              <a:lnSpc>
                <a:spcPts val="475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6101" y="529375"/>
            <a:ext cx="6328368" cy="2052225"/>
            <a:chOff x="0" y="0"/>
            <a:chExt cx="8437824" cy="27363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196664"/>
              <a:ext cx="8437824" cy="539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  <a:spcBef>
                  <a:spcPct val="0"/>
                </a:spcBef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7982882" cy="128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4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258748" y="1700734"/>
            <a:ext cx="11500436" cy="7278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5"/>
              </a:lnSpc>
              <a:spcBef>
                <a:spcPct val="0"/>
              </a:spcBef>
            </a:pPr>
            <a:r>
              <a:rPr lang="en-US" sz="3753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Step 4: Channel Scanning</a:t>
            </a:r>
          </a:p>
          <a:p>
            <a:pPr algn="l" marL="810406" indent="-405203" lvl="1">
              <a:lnSpc>
                <a:spcPts val="5255"/>
              </a:lnSpc>
              <a:spcBef>
                <a:spcPct val="0"/>
              </a:spcBef>
              <a:buFont typeface="Arial"/>
              <a:buChar char="•"/>
            </a:pPr>
            <a:r>
              <a:rPr lang="en-US" sz="3753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3753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evice scans all available bands</a:t>
            </a:r>
          </a:p>
          <a:p>
            <a:pPr algn="l" marL="810406" indent="-405203" lvl="1">
              <a:lnSpc>
                <a:spcPts val="5255"/>
              </a:lnSpc>
              <a:spcBef>
                <a:spcPct val="0"/>
              </a:spcBef>
              <a:buFont typeface="Arial"/>
              <a:buChar char="•"/>
            </a:pPr>
            <a:r>
              <a:rPr lang="en-US" sz="3753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For each channel:</a:t>
            </a:r>
          </a:p>
          <a:p>
            <a:pPr algn="l" marL="1620812" indent="-540271" lvl="2">
              <a:lnSpc>
                <a:spcPts val="5255"/>
              </a:lnSpc>
              <a:spcBef>
                <a:spcPct val="0"/>
              </a:spcBef>
              <a:buFont typeface="Arial"/>
              <a:buChar char="⚬"/>
            </a:pPr>
            <a:r>
              <a:rPr lang="en-US" sz="3753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Check</a:t>
            </a:r>
            <a:r>
              <a:rPr lang="en-US" sz="3753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 number of active networks</a:t>
            </a:r>
          </a:p>
          <a:p>
            <a:pPr algn="l" marL="1620812" indent="-540271" lvl="2">
              <a:lnSpc>
                <a:spcPts val="5255"/>
              </a:lnSpc>
              <a:spcBef>
                <a:spcPct val="0"/>
              </a:spcBef>
              <a:buFont typeface="Arial"/>
              <a:buChar char="⚬"/>
            </a:pPr>
            <a:r>
              <a:rPr lang="en-US" sz="3753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Measures interference level</a:t>
            </a:r>
          </a:p>
          <a:p>
            <a:pPr algn="l" marL="1620812" indent="-540271" lvl="2">
              <a:lnSpc>
                <a:spcPts val="5255"/>
              </a:lnSpc>
              <a:spcBef>
                <a:spcPct val="0"/>
              </a:spcBef>
              <a:buFont typeface="Arial"/>
              <a:buChar char="⚬"/>
            </a:pPr>
            <a:r>
              <a:rPr lang="en-US" sz="3753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Compu</a:t>
            </a:r>
            <a:r>
              <a:rPr lang="en-US" sz="3753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tes channel score</a:t>
            </a:r>
          </a:p>
          <a:p>
            <a:pPr algn="l">
              <a:lnSpc>
                <a:spcPts val="5255"/>
              </a:lnSpc>
              <a:spcBef>
                <a:spcPct val="0"/>
              </a:spcBef>
            </a:pPr>
            <a:r>
              <a:rPr lang="en-US" sz="3753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Step 5: Free / Best Channel Detection</a:t>
            </a:r>
          </a:p>
          <a:p>
            <a:pPr algn="l" marL="810406" indent="-405203" lvl="1">
              <a:lnSpc>
                <a:spcPts val="5255"/>
              </a:lnSpc>
              <a:spcBef>
                <a:spcPct val="0"/>
              </a:spcBef>
              <a:buFont typeface="Arial"/>
              <a:buChar char="•"/>
            </a:pPr>
            <a:r>
              <a:rPr lang="en-US" sz="3753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A channel is considered free if:</a:t>
            </a:r>
          </a:p>
          <a:p>
            <a:pPr algn="l" marL="1620812" indent="-540271" lvl="2">
              <a:lnSpc>
                <a:spcPts val="5255"/>
              </a:lnSpc>
              <a:spcBef>
                <a:spcPct val="0"/>
              </a:spcBef>
              <a:buFont typeface="Arial"/>
              <a:buChar char="⚬"/>
            </a:pPr>
            <a:r>
              <a:rPr lang="en-US" sz="3753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Low interference</a:t>
            </a:r>
          </a:p>
          <a:p>
            <a:pPr algn="l" marL="1620812" indent="-540271" lvl="2">
              <a:lnSpc>
                <a:spcPts val="5255"/>
              </a:lnSpc>
              <a:spcBef>
                <a:spcPct val="0"/>
              </a:spcBef>
              <a:buFont typeface="Arial"/>
              <a:buChar char="⚬"/>
            </a:pPr>
            <a:r>
              <a:rPr lang="en-US" sz="3753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Low network traffic</a:t>
            </a:r>
          </a:p>
          <a:p>
            <a:pPr algn="l">
              <a:lnSpc>
                <a:spcPts val="5255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73059" y="563722"/>
            <a:ext cx="6328368" cy="2052225"/>
            <a:chOff x="0" y="0"/>
            <a:chExt cx="8437824" cy="27363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2196664"/>
              <a:ext cx="8437824" cy="539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7982882" cy="128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43"/>
                </a:lnSpc>
                <a:spcBef>
                  <a:spcPct val="0"/>
                </a:spcBef>
              </a:pPr>
              <a:r>
                <a:rPr lang="en-US" b="true" sz="6110" spc="-183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Method</a:t>
              </a:r>
              <a:r>
                <a:rPr lang="en-US" b="true" sz="6110" spc="-183" u="none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ology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24400" y="1809826"/>
            <a:ext cx="12346699" cy="780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1"/>
              </a:lnSpc>
              <a:spcBef>
                <a:spcPct val="0"/>
              </a:spcBef>
            </a:pP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Step 6: Channel Switching</a:t>
            </a:r>
          </a:p>
          <a:p>
            <a:pPr algn="l" marL="870040" indent="-435020" lvl="1">
              <a:lnSpc>
                <a:spcPts val="5641"/>
              </a:lnSpc>
              <a:spcBef>
                <a:spcPct val="0"/>
              </a:spcBef>
              <a:buFont typeface="Arial"/>
              <a:buChar char="•"/>
            </a:pP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If a b</a:t>
            </a: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etter channel is found:</a:t>
            </a:r>
          </a:p>
          <a:p>
            <a:pPr algn="l" marL="1740080" indent="-580027" lvl="2">
              <a:lnSpc>
                <a:spcPts val="5641"/>
              </a:lnSpc>
              <a:spcBef>
                <a:spcPct val="0"/>
              </a:spcBef>
              <a:buFont typeface="Arial"/>
              <a:buChar char="⚬"/>
            </a:pP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Disc</a:t>
            </a: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onnect from current channel</a:t>
            </a:r>
          </a:p>
          <a:p>
            <a:pPr algn="l" marL="1740080" indent="-580027" lvl="2">
              <a:lnSpc>
                <a:spcPts val="5641"/>
              </a:lnSpc>
              <a:spcBef>
                <a:spcPct val="0"/>
              </a:spcBef>
              <a:buFont typeface="Arial"/>
              <a:buChar char="⚬"/>
            </a:pP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Reco</a:t>
            </a: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nnect to new channel</a:t>
            </a:r>
          </a:p>
          <a:p>
            <a:pPr algn="l" marL="870040" indent="-435020" lvl="1">
              <a:lnSpc>
                <a:spcPts val="5641"/>
              </a:lnSpc>
              <a:spcBef>
                <a:spcPct val="0"/>
              </a:spcBef>
              <a:buFont typeface="Arial"/>
              <a:buChar char="•"/>
            </a:pP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En</a:t>
            </a: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sures:</a:t>
            </a:r>
          </a:p>
          <a:p>
            <a:pPr algn="l" marL="1740080" indent="-580027" lvl="2">
              <a:lnSpc>
                <a:spcPts val="5641"/>
              </a:lnSpc>
              <a:spcBef>
                <a:spcPct val="0"/>
              </a:spcBef>
              <a:buFont typeface="Arial"/>
              <a:buChar char="⚬"/>
            </a:pP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Minimal packet l</a:t>
            </a: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oss</a:t>
            </a:r>
          </a:p>
          <a:p>
            <a:pPr algn="l" marL="1740080" indent="-580027" lvl="2">
              <a:lnSpc>
                <a:spcPts val="5641"/>
              </a:lnSpc>
              <a:spcBef>
                <a:spcPct val="0"/>
              </a:spcBef>
              <a:buFont typeface="Arial"/>
              <a:buChar char="⚬"/>
            </a:pP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Seaml</a:t>
            </a: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ess communication</a:t>
            </a:r>
          </a:p>
          <a:p>
            <a:pPr algn="l">
              <a:lnSpc>
                <a:spcPts val="5641"/>
              </a:lnSpc>
              <a:spcBef>
                <a:spcPct val="0"/>
              </a:spcBef>
            </a:pP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Step 7: Resume Data Transmission</a:t>
            </a:r>
          </a:p>
          <a:p>
            <a:pPr algn="l" marL="870040" indent="-435020" lvl="1">
              <a:lnSpc>
                <a:spcPts val="5641"/>
              </a:lnSpc>
              <a:spcBef>
                <a:spcPct val="0"/>
              </a:spcBef>
              <a:buFont typeface="Arial"/>
              <a:buChar char="•"/>
            </a:pP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IoT</a:t>
            </a: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 node continues normal operation</a:t>
            </a:r>
          </a:p>
          <a:p>
            <a:pPr algn="l" marL="870040" indent="-435020" lvl="1">
              <a:lnSpc>
                <a:spcPts val="5641"/>
              </a:lnSpc>
              <a:spcBef>
                <a:spcPct val="0"/>
              </a:spcBef>
              <a:buFont typeface="Arial"/>
              <a:buChar char="•"/>
            </a:pP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M</a:t>
            </a:r>
            <a:r>
              <a:rPr lang="en-US" sz="4029" spc="-12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onitoring restarts (loop)</a:t>
            </a:r>
          </a:p>
          <a:p>
            <a:pPr algn="l">
              <a:lnSpc>
                <a:spcPts val="5641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273059" y="563722"/>
            <a:ext cx="6328368" cy="2052225"/>
            <a:chOff x="0" y="0"/>
            <a:chExt cx="8437824" cy="27363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196664"/>
              <a:ext cx="8437824" cy="539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7982882" cy="128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43"/>
                </a:lnSpc>
                <a:spcBef>
                  <a:spcPct val="0"/>
                </a:spcBef>
              </a:pPr>
              <a:r>
                <a:rPr lang="en-US" b="true" sz="6110" spc="-183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Method</a:t>
              </a:r>
              <a:r>
                <a:rPr lang="en-US" b="true" sz="6110" spc="-183" u="none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ology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2533" y="952500"/>
            <a:ext cx="16582356" cy="983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4"/>
              </a:lnSpc>
            </a:pPr>
            <a:r>
              <a:rPr lang="en-US" sz="3746" spc="-112" b="true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Role:</a:t>
            </a:r>
          </a:p>
          <a:p>
            <a:pPr algn="l">
              <a:lnSpc>
                <a:spcPts val="5244"/>
              </a:lnSpc>
              <a:spcBef>
                <a:spcPct val="0"/>
              </a:spcBef>
            </a:pP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Crea</a:t>
            </a: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tes the Wi‑Fi network (DynamicAP) that</a:t>
            </a: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 all devic</a:t>
            </a: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es connect to. It starts on channel 1 and listens for HTTP command</a:t>
            </a: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 to cha</a:t>
            </a: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nge the operating channel.</a:t>
            </a:r>
          </a:p>
          <a:p>
            <a:pPr algn="l">
              <a:lnSpc>
                <a:spcPts val="5244"/>
              </a:lnSpc>
              <a:spcBef>
                <a:spcPct val="0"/>
              </a:spcBef>
            </a:pPr>
            <a:r>
              <a:rPr lang="en-US" b="true" sz="3746" spc="-112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</a:t>
            </a:r>
            <a:r>
              <a:rPr lang="en-US" b="true" sz="3746" spc="-112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ey Functio</a:t>
            </a:r>
            <a:r>
              <a:rPr lang="en-US" b="true" sz="3746" spc="-112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ns:</a:t>
            </a:r>
          </a:p>
          <a:p>
            <a:pPr algn="l" marL="808812" indent="-404406" lvl="1">
              <a:lnSpc>
                <a:spcPts val="5244"/>
              </a:lnSpc>
              <a:spcBef>
                <a:spcPct val="0"/>
              </a:spcBef>
              <a:buFont typeface="Arial"/>
              <a:buChar char="•"/>
            </a:pP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Wi‑Fi AP Mode: Hosts a network with SSID “DynamicAP”, password ”password”.</a:t>
            </a:r>
          </a:p>
          <a:p>
            <a:pPr algn="l" marL="808812" indent="-404406" lvl="1">
              <a:lnSpc>
                <a:spcPts val="5244"/>
              </a:lnSpc>
              <a:spcBef>
                <a:spcPct val="0"/>
              </a:spcBef>
              <a:buFont typeface="Arial"/>
              <a:buChar char="•"/>
            </a:pP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Channel Control </a:t>
            </a: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Endpoint: P</a:t>
            </a: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rovides /setchannel?channel=X – receives ch</a:t>
            </a: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annel chang</a:t>
            </a: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 commands from the controller and attempts to switch.</a:t>
            </a:r>
          </a:p>
          <a:p>
            <a:pPr algn="l" marL="808812" indent="-404406" lvl="1">
              <a:lnSpc>
                <a:spcPts val="5244"/>
              </a:lnSpc>
              <a:spcBef>
                <a:spcPct val="0"/>
              </a:spcBef>
              <a:buFont typeface="Arial"/>
              <a:buChar char="•"/>
            </a:pP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Status Endpoint: /status – reports the current channel to the controller (used for synchronisation).</a:t>
            </a:r>
          </a:p>
          <a:p>
            <a:pPr algn="l" marL="808812" indent="-404406" lvl="1">
              <a:lnSpc>
                <a:spcPts val="5244"/>
              </a:lnSpc>
              <a:spcBef>
                <a:spcPct val="0"/>
              </a:spcBef>
              <a:buFont typeface="Arial"/>
              <a:buChar char="•"/>
            </a:pP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No</a:t>
            </a: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 Channel Scanning: The AP itself does not scan; it simply follows orders from the controller.</a:t>
            </a:r>
          </a:p>
          <a:p>
            <a:pPr algn="l">
              <a:lnSpc>
                <a:spcPts val="5244"/>
              </a:lnSpc>
              <a:spcBef>
                <a:spcPct val="0"/>
              </a:spcBef>
            </a:pPr>
            <a:r>
              <a:rPr lang="en-US" b="true" sz="3746" spc="-112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Interaction:</a:t>
            </a:r>
          </a:p>
          <a:p>
            <a:pPr algn="l" marL="808812" indent="-404406" lvl="1">
              <a:lnSpc>
                <a:spcPts val="5244"/>
              </a:lnSpc>
              <a:spcBef>
                <a:spcPct val="0"/>
              </a:spcBef>
              <a:buFont typeface="Arial"/>
              <a:buChar char="•"/>
            </a:pP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Receives HTTP GET requests from the c</a:t>
            </a: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ontroller to change channel.</a:t>
            </a:r>
          </a:p>
          <a:p>
            <a:pPr algn="l" marL="808812" indent="-404406" lvl="1">
              <a:lnSpc>
                <a:spcPts val="5244"/>
              </a:lnSpc>
              <a:spcBef>
                <a:spcPct val="0"/>
              </a:spcBef>
              <a:buFont typeface="Arial"/>
              <a:buChar char="•"/>
            </a:pPr>
            <a:r>
              <a:rPr lang="en-US" sz="3746" spc="-112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All other devices (controller, IoT node) connect to this AP</a:t>
            </a:r>
          </a:p>
          <a:p>
            <a:pPr algn="l">
              <a:lnSpc>
                <a:spcPts val="5244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88323" y="156755"/>
            <a:ext cx="6328368" cy="3052350"/>
            <a:chOff x="0" y="0"/>
            <a:chExt cx="8437824" cy="40698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530164"/>
              <a:ext cx="8437824" cy="539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7982882" cy="2620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43"/>
                </a:lnSpc>
              </a:pPr>
              <a:r>
                <a:rPr lang="en-US" sz="6110" spc="-183" b="true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Access Point (wifi)</a:t>
              </a:r>
            </a:p>
            <a:p>
              <a:pPr algn="l" marL="0" indent="0" lvl="0">
                <a:lnSpc>
                  <a:spcPts val="7943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651" y="1325241"/>
            <a:ext cx="16549649" cy="896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9"/>
              </a:lnSpc>
              <a:spcBef>
                <a:spcPct val="0"/>
              </a:spcBef>
            </a:pPr>
            <a:r>
              <a:rPr lang="en-US" b="true" sz="3628" spc="-108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Rol</a:t>
            </a:r>
            <a:r>
              <a:rPr lang="en-US" b="true" sz="3628" spc="-108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</a:t>
            </a: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:</a:t>
            </a:r>
          </a:p>
          <a:p>
            <a:pPr algn="l" marL="783289" indent="-391645" lvl="1">
              <a:lnSpc>
                <a:spcPts val="5079"/>
              </a:lnSpc>
              <a:spcBef>
                <a:spcPct val="0"/>
              </a:spcBef>
              <a:buFont typeface="Arial"/>
              <a:buChar char="•"/>
            </a:pP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The brain o</a:t>
            </a: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f the sys</a:t>
            </a: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tem. Periodically scans all Wi‑Fi channels (1‑11), computes an </a:t>
            </a: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nterference score for each, d</a:t>
            </a: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ecid</a:t>
            </a: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es if a channel switch is be</a:t>
            </a: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eficial, and commands the AP to switch. It also h</a:t>
            </a: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osts a real‑tim</a:t>
            </a: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 dashboard and a UDP echo server for latency measurement.</a:t>
            </a:r>
          </a:p>
          <a:p>
            <a:pPr algn="l">
              <a:lnSpc>
                <a:spcPts val="5079"/>
              </a:lnSpc>
              <a:spcBef>
                <a:spcPct val="0"/>
              </a:spcBef>
            </a:pPr>
            <a:r>
              <a:rPr lang="en-US" b="true" sz="3628" spc="-108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Key Functions:</a:t>
            </a:r>
          </a:p>
          <a:p>
            <a:pPr algn="l" marL="1566579" indent="-522193" lvl="2">
              <a:lnSpc>
                <a:spcPts val="5079"/>
              </a:lnSpc>
              <a:spcBef>
                <a:spcPct val="0"/>
              </a:spcBef>
              <a:buFont typeface="Arial"/>
              <a:buChar char="⚬"/>
            </a:pP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Chann</a:t>
            </a: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el Scanning: Every 30 seconds, performs a passive scan </a:t>
            </a: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of</a:t>
            </a: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 channels 1‑11, counting APs and measuring RSSI.</a:t>
            </a:r>
          </a:p>
          <a:p>
            <a:pPr algn="l" marL="1566579" indent="-522193" lvl="2">
              <a:lnSpc>
                <a:spcPts val="5079"/>
              </a:lnSpc>
              <a:spcBef>
                <a:spcPct val="0"/>
              </a:spcBef>
              <a:buFont typeface="Arial"/>
              <a:buChar char="⚬"/>
            </a:pP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Interference Scoring: Calculates a score for each channel based on:</a:t>
            </a:r>
          </a:p>
          <a:p>
            <a:pPr algn="l" marL="2349868" indent="-587467" lvl="3">
              <a:lnSpc>
                <a:spcPts val="5079"/>
              </a:lnSpc>
              <a:spcBef>
                <a:spcPct val="0"/>
              </a:spcBef>
              <a:buFont typeface="Arial"/>
              <a:buChar char="￭"/>
            </a:pP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Number of APs (1 p</a:t>
            </a: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oint each)</a:t>
            </a:r>
          </a:p>
          <a:p>
            <a:pPr algn="l" marL="2349868" indent="-587467" lvl="3">
              <a:lnSpc>
                <a:spcPts val="5079"/>
              </a:lnSpc>
              <a:spcBef>
                <a:spcPct val="0"/>
              </a:spcBef>
              <a:buFont typeface="Arial"/>
              <a:buChar char="￭"/>
            </a:pP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Number of strong APs (RSSI&gt;‑70 dBm, 2 points each)</a:t>
            </a:r>
          </a:p>
          <a:p>
            <a:pPr algn="l" marL="2349868" indent="-587467" lvl="3">
              <a:lnSpc>
                <a:spcPts val="5079"/>
              </a:lnSpc>
              <a:spcBef>
                <a:spcPct val="0"/>
              </a:spcBef>
              <a:buFont typeface="Arial"/>
              <a:buChar char="￭"/>
            </a:pP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Adjacent channel interference (±1 ch: 0.5×APs, ±2 ch: 0.25×APs)</a:t>
            </a:r>
          </a:p>
          <a:p>
            <a:pPr algn="l" marL="2349868" indent="-587467" lvl="3">
              <a:lnSpc>
                <a:spcPts val="5079"/>
              </a:lnSpc>
              <a:spcBef>
                <a:spcPct val="0"/>
              </a:spcBef>
              <a:buFont typeface="Arial"/>
              <a:buChar char="￭"/>
            </a:pPr>
            <a:r>
              <a:rPr lang="en-US" sz="3628" spc="-108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Preference for non‑overlapping channels 1,6,11 (score multiplied by 0.8)</a:t>
            </a:r>
          </a:p>
          <a:p>
            <a:pPr algn="l">
              <a:lnSpc>
                <a:spcPts val="5079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323901" y="359851"/>
            <a:ext cx="6328368" cy="3052350"/>
            <a:chOff x="0" y="0"/>
            <a:chExt cx="8437824" cy="40698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3530164"/>
              <a:ext cx="8437824" cy="539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  <a:spcBef>
                  <a:spcPct val="0"/>
                </a:spcBef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7982882" cy="2620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43"/>
                </a:lnSpc>
                <a:spcBef>
                  <a:spcPct val="0"/>
                </a:spcBef>
              </a:pPr>
              <a:r>
                <a:rPr lang="en-US" b="true" sz="6110" spc="-183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Central Contr</a:t>
              </a:r>
              <a:r>
                <a:rPr lang="en-US" b="true" sz="6110" spc="-183" u="none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oller</a:t>
              </a:r>
            </a:p>
            <a:p>
              <a:pPr algn="l" marL="0" indent="0" lvl="0">
                <a:lnSpc>
                  <a:spcPts val="7943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1058" y="447532"/>
            <a:ext cx="17212331" cy="931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8061" indent="-359030" lvl="1">
              <a:lnSpc>
                <a:spcPts val="4656"/>
              </a:lnSpc>
              <a:spcBef>
                <a:spcPct val="0"/>
              </a:spcBef>
              <a:buFont typeface="Arial"/>
              <a:buChar char="•"/>
            </a:pP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Decision Logic: Compares </a:t>
            </a: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the best channel’s score with</a:t>
            </a: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the current channel’s score; switches only if the best </a:t>
            </a: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is at l</a:t>
            </a: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east 20% better.</a:t>
            </a:r>
          </a:p>
          <a:p>
            <a:pPr algn="l" marL="718061" indent="-359030" lvl="1">
              <a:lnSpc>
                <a:spcPts val="4656"/>
              </a:lnSpc>
              <a:spcBef>
                <a:spcPct val="0"/>
              </a:spcBef>
              <a:buFont typeface="Arial"/>
              <a:buChar char="•"/>
            </a:pP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Web Dashboard: Serves a web page at http://192.168.4.2/ showing current channel, lat</a:t>
            </a: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ncy, packet loss, and per‑channel scores (auto‑refresh every 5 s).</a:t>
            </a:r>
          </a:p>
          <a:p>
            <a:pPr algn="l" marL="718061" indent="-359030" lvl="1">
              <a:lnSpc>
                <a:spcPts val="4656"/>
              </a:lnSpc>
              <a:spcBef>
                <a:spcPct val="0"/>
              </a:spcBef>
              <a:buFont typeface="Arial"/>
              <a:buChar char="•"/>
            </a:pP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UDP Echo Server: Listen</a:t>
            </a: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 on port 8888, echoes back any received packet (used by IoT n</a:t>
            </a: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ode to measure RTT).</a:t>
            </a:r>
          </a:p>
          <a:p>
            <a:pPr algn="l" marL="718061" indent="-359030" lvl="1">
              <a:lnSpc>
                <a:spcPts val="4656"/>
              </a:lnSpc>
              <a:spcBef>
                <a:spcPct val="0"/>
              </a:spcBef>
              <a:buFont typeface="Arial"/>
              <a:buChar char="•"/>
            </a:pP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Metrics API: /api/node-m</a:t>
            </a: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etrics accepts latency and loss reports from the IoT node (via GET or POST via Http).</a:t>
            </a:r>
          </a:p>
          <a:p>
            <a:pPr algn="l" marL="718061" indent="-359030" lvl="1">
              <a:lnSpc>
                <a:spcPts val="4656"/>
              </a:lnSpc>
              <a:spcBef>
                <a:spcPct val="0"/>
              </a:spcBef>
              <a:buFont typeface="Arial"/>
              <a:buChar char="•"/>
            </a:pP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J</a:t>
            </a: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SON Status API: /api/status provides all real‑time data for the Python collector(format).</a:t>
            </a:r>
          </a:p>
          <a:p>
            <a:pPr algn="l">
              <a:lnSpc>
                <a:spcPts val="4656"/>
              </a:lnSpc>
              <a:spcBef>
                <a:spcPct val="0"/>
              </a:spcBef>
            </a:pPr>
            <a:r>
              <a:rPr lang="en-US" b="true" sz="3325" spc="-99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Interaction:</a:t>
            </a:r>
          </a:p>
          <a:p>
            <a:pPr algn="l" marL="718061" indent="-359030" lvl="1">
              <a:lnSpc>
                <a:spcPts val="4656"/>
              </a:lnSpc>
              <a:spcBef>
                <a:spcPct val="0"/>
              </a:spcBef>
              <a:buFont typeface="Arial"/>
              <a:buChar char="•"/>
            </a:pP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Sends HTTP /setchannel commands to the AP.</a:t>
            </a:r>
          </a:p>
          <a:p>
            <a:pPr algn="l" marL="718061" indent="-359030" lvl="1">
              <a:lnSpc>
                <a:spcPts val="4656"/>
              </a:lnSpc>
              <a:spcBef>
                <a:spcPct val="0"/>
              </a:spcBef>
              <a:buFont typeface="Arial"/>
              <a:buChar char="•"/>
            </a:pP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Receives UDP packets from the </a:t>
            </a: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IoT</a:t>
            </a: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 node and echoes them.</a:t>
            </a:r>
          </a:p>
          <a:p>
            <a:pPr algn="l" marL="718061" indent="-359030" lvl="1">
              <a:lnSpc>
                <a:spcPts val="4656"/>
              </a:lnSpc>
              <a:spcBef>
                <a:spcPct val="0"/>
              </a:spcBef>
              <a:buFont typeface="Arial"/>
              <a:buChar char="•"/>
            </a:pP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Receives HTTP metrics from the IoT node.</a:t>
            </a:r>
          </a:p>
          <a:p>
            <a:pPr algn="l" marL="718061" indent="-359030" lvl="1">
              <a:lnSpc>
                <a:spcPts val="4656"/>
              </a:lnSpc>
              <a:spcBef>
                <a:spcPct val="0"/>
              </a:spcBef>
              <a:buFont typeface="Arial"/>
              <a:buChar char="•"/>
            </a:pP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Serves web dashboard to any connected browser.</a:t>
            </a:r>
          </a:p>
          <a:p>
            <a:pPr algn="l" marL="718061" indent="-359030" lvl="1">
              <a:lnSpc>
                <a:spcPts val="4656"/>
              </a:lnSpc>
              <a:spcBef>
                <a:spcPct val="0"/>
              </a:spcBef>
              <a:buFont typeface="Arial"/>
              <a:buChar char="•"/>
            </a:pPr>
            <a:r>
              <a:rPr lang="en-US" sz="3325" spc="-99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Provides JSON data to the external Python collector.</a:t>
            </a:r>
          </a:p>
          <a:p>
            <a:pPr algn="l">
              <a:lnSpc>
                <a:spcPts val="465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82677" y="2236837"/>
            <a:ext cx="9788296" cy="1994365"/>
          </a:xfrm>
          <a:custGeom>
            <a:avLst/>
            <a:gdLst/>
            <a:ahLst/>
            <a:cxnLst/>
            <a:rect r="r" b="b" t="t" l="l"/>
            <a:pathLst>
              <a:path h="1994365" w="9788296">
                <a:moveTo>
                  <a:pt x="0" y="0"/>
                </a:moveTo>
                <a:lnTo>
                  <a:pt x="9788296" y="0"/>
                </a:lnTo>
                <a:lnTo>
                  <a:pt x="9788296" y="1994365"/>
                </a:lnTo>
                <a:lnTo>
                  <a:pt x="0" y="1994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2814" y="416630"/>
            <a:ext cx="11747378" cy="6252661"/>
            <a:chOff x="0" y="0"/>
            <a:chExt cx="15663170" cy="833688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33350"/>
              <a:ext cx="15663170" cy="1508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44"/>
                </a:lnSpc>
              </a:pPr>
              <a:r>
                <a:rPr lang="en-US" sz="6803" spc="-204">
                  <a:solidFill>
                    <a:srgbClr val="292929"/>
                  </a:solidFill>
                  <a:latin typeface="Hatton"/>
                  <a:ea typeface="Hatton"/>
                  <a:cs typeface="Hatton"/>
                  <a:sym typeface="Hatton"/>
                </a:rPr>
                <a:t>example live analysis in http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7857068"/>
              <a:ext cx="3358971" cy="479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42814" y="1389331"/>
            <a:ext cx="7752096" cy="8106767"/>
          </a:xfrm>
          <a:custGeom>
            <a:avLst/>
            <a:gdLst/>
            <a:ahLst/>
            <a:cxnLst/>
            <a:rect r="r" b="b" t="t" l="l"/>
            <a:pathLst>
              <a:path h="8106767" w="7752096">
                <a:moveTo>
                  <a:pt x="0" y="0"/>
                </a:moveTo>
                <a:lnTo>
                  <a:pt x="7752096" y="0"/>
                </a:lnTo>
                <a:lnTo>
                  <a:pt x="7752096" y="8106767"/>
                </a:lnTo>
                <a:lnTo>
                  <a:pt x="0" y="81067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3901" y="139901"/>
            <a:ext cx="6328368" cy="3052350"/>
            <a:chOff x="0" y="0"/>
            <a:chExt cx="8437824" cy="40698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30164"/>
              <a:ext cx="8437824" cy="539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  <a:spcBef>
                  <a:spcPct val="0"/>
                </a:spcBef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7982882" cy="2620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43"/>
                </a:lnSpc>
                <a:spcBef>
                  <a:spcPct val="0"/>
                </a:spcBef>
              </a:pPr>
              <a:r>
                <a:rPr lang="en-US" b="true" sz="6110" spc="-183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IoT N</a:t>
              </a:r>
              <a:r>
                <a:rPr lang="en-US" b="true" sz="6110" spc="-183" u="none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ode</a:t>
              </a:r>
            </a:p>
            <a:p>
              <a:pPr algn="l" marL="0" indent="0" lvl="0">
                <a:lnSpc>
                  <a:spcPts val="794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81075"/>
            <a:ext cx="14224490" cy="719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167" spc="-65" b="true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Role:</a:t>
            </a:r>
          </a:p>
          <a:p>
            <a:pPr algn="l" marL="467943" indent="-233972" lvl="1">
              <a:lnSpc>
                <a:spcPts val="3034"/>
              </a:lnSpc>
              <a:spcBef>
                <a:spcPct val="0"/>
              </a:spcBef>
              <a:buFont typeface="Arial"/>
              <a:buChar char="•"/>
            </a:pP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Simulates an IoT device that generates r</a:t>
            </a: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egular traffic and reports network performance metrics</a:t>
            </a: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 (la</a:t>
            </a: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tency, packet loss) back to the controller. These metr</a:t>
            </a: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ics help evaluate th</a:t>
            </a: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 impact of channel changes.</a:t>
            </a:r>
          </a:p>
          <a:p>
            <a:pPr algn="l">
              <a:lnSpc>
                <a:spcPts val="3034"/>
              </a:lnSpc>
              <a:spcBef>
                <a:spcPct val="0"/>
              </a:spcBef>
            </a:pP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K</a:t>
            </a: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ey Functions:</a:t>
            </a:r>
          </a:p>
          <a:p>
            <a:pPr algn="l" marL="467943" indent="-233972" lvl="1">
              <a:lnSpc>
                <a:spcPts val="3034"/>
              </a:lnSpc>
              <a:spcBef>
                <a:spcPct val="0"/>
              </a:spcBef>
              <a:buFont typeface="Arial"/>
              <a:buChar char="•"/>
            </a:pP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UDP Traffic Generation: Every second, sends a UDP packet to the controller (port 8888) containing a sequence number and a timestamp.</a:t>
            </a:r>
          </a:p>
          <a:p>
            <a:pPr algn="l" marL="467943" indent="-233972" lvl="1">
              <a:lnSpc>
                <a:spcPts val="3034"/>
              </a:lnSpc>
              <a:spcBef>
                <a:spcPct val="0"/>
              </a:spcBef>
              <a:buFont typeface="Arial"/>
              <a:buChar char="•"/>
            </a:pP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Echo Detection: Listen</a:t>
            </a: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 for the echoed packet, calculates round‑trip time (RTT), and increments a counter for ackn</a:t>
            </a: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owledged packets.</a:t>
            </a:r>
          </a:p>
          <a:p>
            <a:pPr algn="l" marL="467943" indent="-233972" lvl="1">
              <a:lnSpc>
                <a:spcPts val="3034"/>
              </a:lnSpc>
              <a:spcBef>
                <a:spcPct val="0"/>
              </a:spcBef>
              <a:buFont typeface="Arial"/>
              <a:buChar char="•"/>
            </a:pP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Metrics Computation: Every 10 s</a:t>
            </a: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econds, computes:</a:t>
            </a:r>
          </a:p>
          <a:p>
            <a:pPr algn="l" marL="467943" indent="-233972" lvl="1">
              <a:lnSpc>
                <a:spcPts val="3034"/>
              </a:lnSpc>
              <a:spcBef>
                <a:spcPct val="0"/>
              </a:spcBef>
              <a:buFont typeface="Arial"/>
              <a:buChar char="•"/>
            </a:pP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Average latency = total RTT / number of echoes received.</a:t>
            </a:r>
          </a:p>
          <a:p>
            <a:pPr algn="l" marL="467943" indent="-233972" lvl="1">
              <a:lnSpc>
                <a:spcPts val="3034"/>
              </a:lnSpc>
              <a:spcBef>
                <a:spcPct val="0"/>
              </a:spcBef>
              <a:buFont typeface="Arial"/>
              <a:buChar char="•"/>
            </a:pP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Packet loss (%) = (sent packets – acknowledged packets) / sent packets × 100.</a:t>
            </a:r>
          </a:p>
          <a:p>
            <a:pPr algn="l" marL="467943" indent="-233972" lvl="1">
              <a:lnSpc>
                <a:spcPts val="3034"/>
              </a:lnSpc>
              <a:spcBef>
                <a:spcPct val="0"/>
              </a:spcBef>
              <a:buFont typeface="Arial"/>
              <a:buChar char="•"/>
            </a:pP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HTTP Reporting: Sends the computed metrics to the controller’s /api/node-metrics endpoint (using GET with query parameters).</a:t>
            </a:r>
          </a:p>
          <a:p>
            <a:pPr algn="l" marL="467943" indent="-233972" lvl="1">
              <a:lnSpc>
                <a:spcPts val="3034"/>
              </a:lnSpc>
              <a:spcBef>
                <a:spcPct val="0"/>
              </a:spcBef>
              <a:buFont typeface="Arial"/>
              <a:buChar char="•"/>
            </a:pP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Static IP: Configured with IP 192.168.4.3 for reliable communication.</a:t>
            </a:r>
          </a:p>
          <a:p>
            <a:pPr algn="l">
              <a:lnSpc>
                <a:spcPts val="3034"/>
              </a:lnSpc>
              <a:spcBef>
                <a:spcPct val="0"/>
              </a:spcBef>
            </a:pPr>
            <a:r>
              <a:rPr lang="en-US" b="true" sz="2167" spc="-65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</a:t>
            </a:r>
            <a:r>
              <a:rPr lang="en-US" b="true" sz="2167" spc="-65">
                <a:solidFill>
                  <a:srgbClr val="29292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eraction:</a:t>
            </a:r>
          </a:p>
          <a:p>
            <a:pPr algn="l" marL="467943" indent="-233972" lvl="1">
              <a:lnSpc>
                <a:spcPts val="3034"/>
              </a:lnSpc>
              <a:spcBef>
                <a:spcPct val="0"/>
              </a:spcBef>
              <a:buFont typeface="Arial"/>
              <a:buChar char="•"/>
            </a:pP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Sends UDP packets to c</a:t>
            </a: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ntroller and receives echoes.</a:t>
            </a:r>
          </a:p>
          <a:p>
            <a:pPr algn="l" marL="467943" indent="-233972" lvl="1">
              <a:lnSpc>
                <a:spcPts val="3034"/>
              </a:lnSpc>
              <a:spcBef>
                <a:spcPct val="0"/>
              </a:spcBef>
              <a:buFont typeface="Arial"/>
              <a:buChar char="•"/>
            </a:pP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ends HTTP metrics to controller.</a:t>
            </a:r>
          </a:p>
          <a:p>
            <a:pPr algn="l" marL="467943" indent="-233972" lvl="1">
              <a:lnSpc>
                <a:spcPts val="3034"/>
              </a:lnSpc>
              <a:spcBef>
                <a:spcPct val="0"/>
              </a:spcBef>
              <a:buFont typeface="Arial"/>
              <a:buChar char="•"/>
            </a:pP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All t</a:t>
            </a:r>
            <a:r>
              <a:rPr lang="en-US" sz="2167" spc="-6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raffic goes through the AP (ESP32 #1).</a:t>
            </a:r>
          </a:p>
          <a:p>
            <a:pPr algn="l">
              <a:lnSpc>
                <a:spcPts val="303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56407" y="1405758"/>
            <a:ext cx="5917128" cy="8881242"/>
          </a:xfrm>
          <a:custGeom>
            <a:avLst/>
            <a:gdLst/>
            <a:ahLst/>
            <a:cxnLst/>
            <a:rect r="r" b="b" t="t" l="l"/>
            <a:pathLst>
              <a:path h="8881242" w="5917128">
                <a:moveTo>
                  <a:pt x="0" y="0"/>
                </a:moveTo>
                <a:lnTo>
                  <a:pt x="5917128" y="0"/>
                </a:lnTo>
                <a:lnTo>
                  <a:pt x="5917128" y="8881242"/>
                </a:lnTo>
                <a:lnTo>
                  <a:pt x="0" y="8881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31002" y="1507442"/>
            <a:ext cx="5661624" cy="8779558"/>
          </a:xfrm>
          <a:custGeom>
            <a:avLst/>
            <a:gdLst/>
            <a:ahLst/>
            <a:cxnLst/>
            <a:rect r="r" b="b" t="t" l="l"/>
            <a:pathLst>
              <a:path h="8779558" w="5661624">
                <a:moveTo>
                  <a:pt x="0" y="0"/>
                </a:moveTo>
                <a:lnTo>
                  <a:pt x="5661624" y="0"/>
                </a:lnTo>
                <a:lnTo>
                  <a:pt x="5661624" y="8779558"/>
                </a:lnTo>
                <a:lnTo>
                  <a:pt x="0" y="8779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999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48916" y="463136"/>
            <a:ext cx="12384342" cy="3992901"/>
            <a:chOff x="0" y="0"/>
            <a:chExt cx="16512456" cy="532386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23825"/>
              <a:ext cx="16512456" cy="1490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0"/>
                </a:lnSpc>
              </a:pPr>
              <a:r>
                <a:rPr lang="en-US" sz="6762" spc="-202">
                  <a:solidFill>
                    <a:srgbClr val="292929"/>
                  </a:solidFill>
                  <a:latin typeface="Hatton"/>
                  <a:ea typeface="Hatton"/>
                  <a:cs typeface="Hatton"/>
                  <a:sym typeface="Hatton"/>
                </a:rPr>
                <a:t>Flow diagram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846650"/>
              <a:ext cx="7237049" cy="477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2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483887" y="358361"/>
            <a:ext cx="8242406" cy="88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2"/>
              </a:lnSpc>
              <a:spcBef>
                <a:spcPct val="0"/>
              </a:spcBef>
            </a:pPr>
            <a:r>
              <a:rPr lang="en-US" sz="5223">
                <a:solidFill>
                  <a:srgbClr val="292929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Adaptive Frequency Hopping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627337"/>
            <a:ext cx="16751671" cy="7035702"/>
          </a:xfrm>
          <a:custGeom>
            <a:avLst/>
            <a:gdLst/>
            <a:ahLst/>
            <a:cxnLst/>
            <a:rect r="r" b="b" t="t" l="l"/>
            <a:pathLst>
              <a:path h="7035702" w="16751671">
                <a:moveTo>
                  <a:pt x="0" y="0"/>
                </a:moveTo>
                <a:lnTo>
                  <a:pt x="16751671" y="0"/>
                </a:lnTo>
                <a:lnTo>
                  <a:pt x="16751671" y="7035702"/>
                </a:lnTo>
                <a:lnTo>
                  <a:pt x="0" y="7035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8916" y="463136"/>
            <a:ext cx="5748011" cy="4017026"/>
            <a:chOff x="0" y="0"/>
            <a:chExt cx="7664015" cy="535603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33350"/>
              <a:ext cx="7664015" cy="1508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44"/>
                </a:lnSpc>
              </a:pPr>
              <a:r>
                <a:rPr lang="en-US" sz="6803" spc="-204">
                  <a:solidFill>
                    <a:srgbClr val="292929"/>
                  </a:solidFill>
                  <a:latin typeface="Hatton"/>
                  <a:ea typeface="Hatton"/>
                  <a:cs typeface="Hatton"/>
                  <a:sym typeface="Hatton"/>
                </a:rPr>
                <a:t>Results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876220"/>
              <a:ext cx="3358971" cy="4798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4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9482" y="738477"/>
            <a:ext cx="16676962" cy="8338481"/>
          </a:xfrm>
          <a:custGeom>
            <a:avLst/>
            <a:gdLst/>
            <a:ahLst/>
            <a:cxnLst/>
            <a:rect r="r" b="b" t="t" l="l"/>
            <a:pathLst>
              <a:path h="8338481" w="16676962">
                <a:moveTo>
                  <a:pt x="0" y="0"/>
                </a:moveTo>
                <a:lnTo>
                  <a:pt x="16676963" y="0"/>
                </a:lnTo>
                <a:lnTo>
                  <a:pt x="16676963" y="8338481"/>
                </a:lnTo>
                <a:lnTo>
                  <a:pt x="0" y="833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6230600" cy="8054435"/>
          </a:xfrm>
          <a:custGeom>
            <a:avLst/>
            <a:gdLst/>
            <a:ahLst/>
            <a:cxnLst/>
            <a:rect r="r" b="b" t="t" l="l"/>
            <a:pathLst>
              <a:path h="8054435" w="16230600">
                <a:moveTo>
                  <a:pt x="0" y="0"/>
                </a:moveTo>
                <a:lnTo>
                  <a:pt x="16230600" y="0"/>
                </a:lnTo>
                <a:lnTo>
                  <a:pt x="16230600" y="8054435"/>
                </a:lnTo>
                <a:lnTo>
                  <a:pt x="0" y="8054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6230600" cy="6816852"/>
          </a:xfrm>
          <a:custGeom>
            <a:avLst/>
            <a:gdLst/>
            <a:ahLst/>
            <a:cxnLst/>
            <a:rect r="r" b="b" t="t" l="l"/>
            <a:pathLst>
              <a:path h="6816852" w="16230600">
                <a:moveTo>
                  <a:pt x="0" y="0"/>
                </a:moveTo>
                <a:lnTo>
                  <a:pt x="16230600" y="0"/>
                </a:lnTo>
                <a:lnTo>
                  <a:pt x="16230600" y="6816852"/>
                </a:lnTo>
                <a:lnTo>
                  <a:pt x="0" y="68168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367" y="799990"/>
            <a:ext cx="13467703" cy="3052350"/>
            <a:chOff x="0" y="0"/>
            <a:chExt cx="17956937" cy="40698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30164"/>
              <a:ext cx="17956937" cy="539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  <a:spcBef>
                  <a:spcPct val="0"/>
                </a:spcBef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17956937" cy="2620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43"/>
                </a:lnSpc>
                <a:spcBef>
                  <a:spcPct val="0"/>
                </a:spcBef>
              </a:pPr>
              <a:r>
                <a:rPr lang="en-US" b="true" sz="6110" spc="-183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Advantages of Pr</a:t>
              </a:r>
              <a:r>
                <a:rPr lang="en-US" b="true" sz="6110" spc="-183" u="none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oposed System </a:t>
              </a:r>
            </a:p>
            <a:p>
              <a:pPr algn="l" marL="0" indent="0" lvl="0">
                <a:lnSpc>
                  <a:spcPts val="794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89287" y="2072233"/>
            <a:ext cx="11365229" cy="528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81641" indent="-540820" lvl="1">
              <a:lnSpc>
                <a:spcPts val="7013"/>
              </a:lnSpc>
              <a:spcBef>
                <a:spcPct val="0"/>
              </a:spcBef>
              <a:buFont typeface="Arial"/>
              <a:buChar char="•"/>
            </a:pPr>
            <a:r>
              <a:rPr lang="en-US" sz="5009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5009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educed interference</a:t>
            </a:r>
          </a:p>
          <a:p>
            <a:pPr algn="l" marL="1081641" indent="-540820" lvl="1">
              <a:lnSpc>
                <a:spcPts val="7013"/>
              </a:lnSpc>
              <a:spcBef>
                <a:spcPct val="0"/>
              </a:spcBef>
              <a:buFont typeface="Arial"/>
              <a:buChar char="•"/>
            </a:pPr>
            <a:r>
              <a:rPr lang="en-US" sz="5009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Impr</a:t>
            </a:r>
            <a:r>
              <a:rPr lang="en-US" sz="5009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ov</a:t>
            </a:r>
            <a:r>
              <a:rPr lang="en-US" sz="5009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ed throughput</a:t>
            </a:r>
          </a:p>
          <a:p>
            <a:pPr algn="l" marL="1081641" indent="-540820" lvl="1">
              <a:lnSpc>
                <a:spcPts val="7013"/>
              </a:lnSpc>
              <a:spcBef>
                <a:spcPct val="0"/>
              </a:spcBef>
              <a:buFont typeface="Arial"/>
              <a:buChar char="•"/>
            </a:pPr>
            <a:r>
              <a:rPr lang="en-US" sz="5009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Lower</a:t>
            </a:r>
            <a:r>
              <a:rPr lang="en-US" sz="5009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 packet l</a:t>
            </a:r>
            <a:r>
              <a:rPr lang="en-US" sz="5009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oss</a:t>
            </a:r>
          </a:p>
          <a:p>
            <a:pPr algn="l" marL="1081641" indent="-540820" lvl="1">
              <a:lnSpc>
                <a:spcPts val="7013"/>
              </a:lnSpc>
              <a:spcBef>
                <a:spcPct val="0"/>
              </a:spcBef>
              <a:buFont typeface="Arial"/>
              <a:buChar char="•"/>
            </a:pPr>
            <a:r>
              <a:rPr lang="en-US" sz="5009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Energy-</a:t>
            </a:r>
            <a:r>
              <a:rPr lang="en-US" sz="5009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efficient </a:t>
            </a:r>
            <a:r>
              <a:rPr lang="en-US" sz="5009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IoT</a:t>
            </a:r>
            <a:r>
              <a:rPr lang="en-US" sz="5009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 nodes</a:t>
            </a:r>
          </a:p>
          <a:p>
            <a:pPr algn="l" marL="1081641" indent="-540820" lvl="1">
              <a:lnSpc>
                <a:spcPts val="7013"/>
              </a:lnSpc>
              <a:spcBef>
                <a:spcPct val="0"/>
              </a:spcBef>
              <a:buFont typeface="Arial"/>
              <a:buChar char="•"/>
            </a:pPr>
            <a:r>
              <a:rPr lang="en-US" sz="5009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Self-adaptive network behavior</a:t>
            </a:r>
          </a:p>
          <a:p>
            <a:pPr algn="l">
              <a:lnSpc>
                <a:spcPts val="701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6748" y="750821"/>
            <a:ext cx="6328368" cy="2052225"/>
            <a:chOff x="0" y="0"/>
            <a:chExt cx="8437824" cy="27363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196664"/>
              <a:ext cx="8437824" cy="539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  <a:spcBef>
                  <a:spcPct val="0"/>
                </a:spcBef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7982882" cy="128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43"/>
                </a:lnSpc>
                <a:spcBef>
                  <a:spcPct val="0"/>
                </a:spcBef>
              </a:pPr>
              <a:r>
                <a:rPr lang="en-US" b="true" sz="6110" spc="-183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Applications</a:t>
              </a:r>
              <a:r>
                <a:rPr lang="en-US" b="true" sz="6110" spc="-183" u="none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172879" y="2214865"/>
            <a:ext cx="15504732" cy="5277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80957" indent="-540478" lvl="1">
              <a:lnSpc>
                <a:spcPts val="7009"/>
              </a:lnSpc>
              <a:spcBef>
                <a:spcPct val="0"/>
              </a:spcBef>
              <a:buFont typeface="Arial"/>
              <a:buChar char="•"/>
            </a:pP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Smart</a:t>
            </a: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homes</a:t>
            </a:r>
          </a:p>
          <a:p>
            <a:pPr algn="l" marL="1080957" indent="-540478" lvl="1">
              <a:lnSpc>
                <a:spcPts val="7009"/>
              </a:lnSpc>
              <a:spcBef>
                <a:spcPct val="0"/>
              </a:spcBef>
              <a:buFont typeface="Arial"/>
              <a:buChar char="•"/>
            </a:pP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mart fa</a:t>
            </a: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ctori</a:t>
            </a: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es</a:t>
            </a:r>
          </a:p>
          <a:p>
            <a:pPr algn="l" marL="1080957" indent="-540478" lvl="1">
              <a:lnSpc>
                <a:spcPts val="7009"/>
              </a:lnSpc>
              <a:spcBef>
                <a:spcPct val="0"/>
              </a:spcBef>
              <a:buFont typeface="Arial"/>
              <a:buChar char="•"/>
            </a:pP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IoT se</a:t>
            </a: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sor netw</a:t>
            </a: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orks</a:t>
            </a:r>
          </a:p>
          <a:p>
            <a:pPr algn="l" marL="1080957" indent="-540478" lvl="1">
              <a:lnSpc>
                <a:spcPts val="7009"/>
              </a:lnSpc>
              <a:spcBef>
                <a:spcPct val="0"/>
              </a:spcBef>
              <a:buFont typeface="Arial"/>
              <a:buChar char="•"/>
            </a:pP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Campu</a:t>
            </a: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 Wi-Fi </a:t>
            </a: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IoT</a:t>
            </a: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 deployment</a:t>
            </a:r>
          </a:p>
          <a:p>
            <a:pPr algn="l" marL="1080957" indent="-540478" lvl="1">
              <a:lnSpc>
                <a:spcPts val="7009"/>
              </a:lnSpc>
              <a:spcBef>
                <a:spcPct val="0"/>
              </a:spcBef>
              <a:buFont typeface="Arial"/>
              <a:buChar char="•"/>
            </a:pPr>
            <a:r>
              <a:rPr lang="en-US" sz="5006" spc="-150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Healthcare monitoring systems</a:t>
            </a:r>
          </a:p>
          <a:p>
            <a:pPr algn="l">
              <a:lnSpc>
                <a:spcPts val="70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3E8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7838" y="907195"/>
            <a:ext cx="6328368" cy="2052225"/>
            <a:chOff x="0" y="0"/>
            <a:chExt cx="8437824" cy="27363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196664"/>
              <a:ext cx="8437824" cy="539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21"/>
                </a:lnSpc>
                <a:spcBef>
                  <a:spcPct val="0"/>
                </a:spcBef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7982882" cy="1287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943"/>
                </a:lnSpc>
                <a:spcBef>
                  <a:spcPct val="0"/>
                </a:spcBef>
              </a:pPr>
              <a:r>
                <a:rPr lang="en-US" b="true" sz="6110" spc="-183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Conc</a:t>
              </a:r>
              <a:r>
                <a:rPr lang="en-US" b="true" sz="6110" spc="-183" u="none">
                  <a:solidFill>
                    <a:srgbClr val="292929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lusion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60347" y="2329069"/>
            <a:ext cx="16061509" cy="599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0077" indent="-525038" lvl="1">
              <a:lnSpc>
                <a:spcPts val="6809"/>
              </a:lnSpc>
              <a:spcBef>
                <a:spcPct val="0"/>
              </a:spcBef>
              <a:buFont typeface="Arial"/>
              <a:buChar char="•"/>
            </a:pPr>
            <a:r>
              <a:rPr lang="en-US" sz="4863" spc="-14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Static channel alloc</a:t>
            </a:r>
            <a:r>
              <a:rPr lang="en-US" sz="4863" spc="-14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4863" spc="-14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tion is ineff</a:t>
            </a:r>
            <a:r>
              <a:rPr lang="en-US" sz="4863" spc="-14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icie</a:t>
            </a:r>
            <a:r>
              <a:rPr lang="en-US" sz="4863" spc="-14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nt for dense IoT networks</a:t>
            </a:r>
          </a:p>
          <a:p>
            <a:pPr algn="l" marL="1050077" indent="-525038" lvl="1">
              <a:lnSpc>
                <a:spcPts val="6809"/>
              </a:lnSpc>
              <a:spcBef>
                <a:spcPct val="0"/>
              </a:spcBef>
              <a:buFont typeface="Arial"/>
              <a:buChar char="•"/>
            </a:pPr>
            <a:r>
              <a:rPr lang="en-US" sz="4863" spc="-14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Inte</a:t>
            </a:r>
            <a:r>
              <a:rPr lang="en-US" sz="4863" spc="-14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rference-aware dynamic all</a:t>
            </a:r>
            <a:r>
              <a:rPr lang="en-US" sz="4863" spc="-14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ocation improv</a:t>
            </a:r>
            <a:r>
              <a:rPr lang="en-US" sz="4863" spc="-14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es performance</a:t>
            </a:r>
          </a:p>
          <a:p>
            <a:pPr algn="l" marL="1050077" indent="-525038" lvl="1">
              <a:lnSpc>
                <a:spcPts val="6809"/>
              </a:lnSpc>
              <a:spcBef>
                <a:spcPct val="0"/>
              </a:spcBef>
              <a:buFont typeface="Arial"/>
              <a:buChar char="•"/>
            </a:pPr>
            <a:r>
              <a:rPr lang="en-US" sz="4863" spc="-14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System adapts automatically to changing network conditions</a:t>
            </a:r>
          </a:p>
          <a:p>
            <a:pPr algn="l" marL="1050077" indent="-525038" lvl="1">
              <a:lnSpc>
                <a:spcPts val="6809"/>
              </a:lnSpc>
              <a:spcBef>
                <a:spcPct val="0"/>
              </a:spcBef>
              <a:buFont typeface="Arial"/>
              <a:buChar char="•"/>
            </a:pPr>
            <a:r>
              <a:rPr lang="en-US" sz="4863" spc="-14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Su</a:t>
            </a:r>
            <a:r>
              <a:rPr lang="en-US" sz="4863" spc="-145">
                <a:solidFill>
                  <a:srgbClr val="292929"/>
                </a:solidFill>
                <a:latin typeface="HK Grotesk"/>
                <a:ea typeface="HK Grotesk"/>
                <a:cs typeface="HK Grotesk"/>
                <a:sym typeface="HK Grotesk"/>
              </a:rPr>
              <a:t>itable for real-world IoT deployments</a:t>
            </a:r>
          </a:p>
          <a:p>
            <a:pPr algn="l">
              <a:lnSpc>
                <a:spcPts val="68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DAG9YbIGEk8</dc:identifier>
  <dcterms:modified xsi:type="dcterms:W3CDTF">2011-08-01T06:04:30Z</dcterms:modified>
  <cp:revision>1</cp:revision>
  <dc:title>Brown Chic and Sleek Tech Proposal Mission and Goals Presentation</dc:title>
</cp:coreProperties>
</file>